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vikkas-arun-pareek-20790918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SESSION  ·  2 HOURS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</a:t>
            </a:r>
            <a:endParaRPr lang="en-US" sz="5600" dirty="0"/>
          </a:p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MCP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1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Production-Ready AI Applications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B1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Model Context Protocol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2286000" cy="457200"/>
          </a:xfrm>
          <a:prstGeom prst="rect">
            <a:avLst/>
          </a:prstGeom>
          <a:solidFill>
            <a:srgbClr val="1C2E4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977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1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Demos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3977640"/>
            <a:ext cx="2286000" cy="457200"/>
          </a:xfrm>
          <a:prstGeom prst="rect">
            <a:avLst/>
          </a:prstGeom>
          <a:solidFill>
            <a:srgbClr val="1C2E4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3977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1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Patterns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3977640"/>
            <a:ext cx="2286000" cy="457200"/>
          </a:xfrm>
          <a:prstGeom prst="rect">
            <a:avLst/>
          </a:prstGeom>
          <a:solidFill>
            <a:srgbClr val="1C2E4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3977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1B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SPEAKER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Vikkas Arun Pareek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8046720" cy="0"/>
          </a:xfrm>
          <a:prstGeom prst="line">
            <a:avLst/>
          </a:prstGeom>
          <a:noFill/>
          <a:ln w="9525">
            <a:solidFill>
              <a:srgbClr val="B1B4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00200"/>
            <a:ext cx="438912" cy="43891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0432" y="162763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in IT — currently at Barclays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258568"/>
            <a:ext cx="438912" cy="43891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58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0432" y="228600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of 5 books — fiction and children's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2916936"/>
            <a:ext cx="438912" cy="43891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169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0432" y="2944368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Numerologist · Reiki Grand Master · Tarot Reader · Vastu Consultant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575304"/>
            <a:ext cx="438912" cy="43891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753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70432" y="3602736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Instructor — Cohort 5 now running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4251960"/>
            <a:ext cx="8046720" cy="0"/>
          </a:xfrm>
          <a:prstGeom prst="line">
            <a:avLst/>
          </a:prstGeom>
          <a:noFill/>
          <a:ln w="6350">
            <a:solidFill>
              <a:srgbClr val="B1B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3708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 LinkedIn</a:t>
            </a:r>
            <a:endParaRPr lang="en-US" sz="1200" dirty="0"/>
          </a:p>
        </p:txBody>
      </p:sp>
      <p:sp>
        <p:nvSpPr>
          <p:cNvPr id="20" name="Text 18">
            <a:hlinkClick r:id="rId1" tooltip=""/>
          </p:cNvPr>
          <p:cNvSpPr/>
          <p:nvPr/>
        </p:nvSpPr>
        <p:spPr>
          <a:xfrm>
            <a:off x="2606040" y="437083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linkedin.com/in/vikkas-arun-pareek-20790918/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8046720" cy="0"/>
          </a:xfrm>
          <a:prstGeom prst="line">
            <a:avLst/>
          </a:prstGeom>
          <a:noFill/>
          <a:ln w="9525">
            <a:solidFill>
              <a:srgbClr val="B1B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8092440" cy="32918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3677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7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14:30 – 14:35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40280" y="163677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Welcome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63840" y="1645920"/>
            <a:ext cx="731520" cy="219456"/>
          </a:xfrm>
          <a:prstGeom prst="rect">
            <a:avLst/>
          </a:prstGeom>
          <a:solidFill>
            <a:srgbClr val="E8F0FB"/>
          </a:solidFill>
          <a:ln w="6350">
            <a:solidFill>
              <a:srgbClr val="1D70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164592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947672"/>
            <a:ext cx="8092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842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7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14:35 – 14:40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40280" y="198424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What We're Building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1993392"/>
            <a:ext cx="731520" cy="219456"/>
          </a:xfrm>
          <a:prstGeom prst="rect">
            <a:avLst/>
          </a:prstGeom>
          <a:solidFill>
            <a:srgbClr val="E8F0FB"/>
          </a:solidFill>
          <a:ln w="6350">
            <a:solidFill>
              <a:srgbClr val="1D70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19933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295144"/>
            <a:ext cx="8092440" cy="32918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317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7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14:40 – 14:50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40280" y="23317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the Basics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63840" y="2340864"/>
            <a:ext cx="731520" cy="219456"/>
          </a:xfrm>
          <a:prstGeom prst="rect">
            <a:avLst/>
          </a:prstGeom>
          <a:solidFill>
            <a:srgbClr val="E8F0FB"/>
          </a:solidFill>
          <a:ln w="6350">
            <a:solidFill>
              <a:srgbClr val="1D70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234086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642616"/>
            <a:ext cx="8092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67919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7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14:50 – 15:00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40280" y="267919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Demo — Why AI Needs More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2688336"/>
            <a:ext cx="731520" cy="219456"/>
          </a:xfrm>
          <a:prstGeom prst="rect">
            <a:avLst/>
          </a:prstGeom>
          <a:solidFill>
            <a:srgbClr val="E8F0FB"/>
          </a:solidFill>
          <a:ln w="6350">
            <a:solidFill>
              <a:srgbClr val="1D70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2688336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2990088"/>
            <a:ext cx="8092440" cy="32918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0266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7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 – 15:15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40280" y="302666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MCP + Key Components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863840" y="3035808"/>
            <a:ext cx="731520" cy="219456"/>
          </a:xfrm>
          <a:prstGeom prst="rect">
            <a:avLst/>
          </a:prstGeom>
          <a:solidFill>
            <a:srgbClr val="E8F0FB"/>
          </a:solidFill>
          <a:ln w="6350">
            <a:solidFill>
              <a:srgbClr val="1D70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303580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337560"/>
            <a:ext cx="8092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3741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7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15:15 – 15:30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240280" y="337413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Server Code Walkthrough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63840" y="3383280"/>
            <a:ext cx="731520" cy="219456"/>
          </a:xfrm>
          <a:prstGeom prst="rect">
            <a:avLst/>
          </a:prstGeom>
          <a:solidFill>
            <a:srgbClr val="E8F0FB"/>
          </a:solidFill>
          <a:ln w="6350">
            <a:solidFill>
              <a:srgbClr val="1D70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0" y="338328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3685032"/>
            <a:ext cx="8092440" cy="32918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7216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7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15:30 – 16:00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240280" y="372160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— IT Support (live demo)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863840" y="3730752"/>
            <a:ext cx="731520" cy="219456"/>
          </a:xfrm>
          <a:prstGeom prst="rect">
            <a:avLst/>
          </a:prstGeom>
          <a:solidFill>
            <a:srgbClr val="E8F0FB"/>
          </a:solidFill>
          <a:ln w="6350">
            <a:solidFill>
              <a:srgbClr val="1D70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0" y="373075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4032504"/>
            <a:ext cx="8092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40690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7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16:00 – 16:20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240280" y="40690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— ModelMyWealth (live demo)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863840" y="4078224"/>
            <a:ext cx="731520" cy="219456"/>
          </a:xfrm>
          <a:prstGeom prst="rect">
            <a:avLst/>
          </a:prstGeom>
          <a:solidFill>
            <a:srgbClr val="E8F0FB"/>
          </a:solidFill>
          <a:ln w="6350">
            <a:solidFill>
              <a:srgbClr val="1D70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63840" y="407822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4379976"/>
            <a:ext cx="8092440" cy="32918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4165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7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16:20 – 16:30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240280" y="441655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and Thank You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863840" y="4425696"/>
            <a:ext cx="731520" cy="219456"/>
          </a:xfrm>
          <a:prstGeom prst="rect">
            <a:avLst/>
          </a:prstGeom>
          <a:solidFill>
            <a:srgbClr val="E8F0FB"/>
          </a:solidFill>
          <a:ln w="6350">
            <a:solidFill>
              <a:srgbClr val="1D70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63840" y="4425696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what we're building.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8046720" cy="0"/>
          </a:xfrm>
          <a:prstGeom prst="line">
            <a:avLst/>
          </a:prstGeom>
          <a:noFill/>
          <a:ln w="9525">
            <a:solidFill>
              <a:srgbClr val="B1B4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00200"/>
            <a:ext cx="8046720" cy="685800"/>
          </a:xfrm>
          <a:prstGeom prst="rect">
            <a:avLst/>
          </a:prstGeom>
          <a:solidFill>
            <a:srgbClr val="F3F2F1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64208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Ajit (Oxford University Support)  →  </a:t>
            </a:r>
            <a:pPr indent="0" marL="0">
              <a:buNone/>
            </a:pPr>
            <a:r>
              <a:rPr lang="en-US" sz="1400" b="1" i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laptop can't connect to the VPN. Help?"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423160"/>
            <a:ext cx="438912" cy="43891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231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0432" y="2450592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diagnosed using the IT knowledge base (RAG)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3017520"/>
            <a:ext cx="438912" cy="43891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175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3044952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TKT-0042 created automatically by the AI agent (MCP)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3611880"/>
            <a:ext cx="438912" cy="43891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11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70432" y="3639312"/>
            <a:ext cx="7223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Ajit gets fix steps + ticket ID — no human needed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43159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build every part of this live. By the end you'll understand how each piece connects.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MCP — THE BUILDING BLOCKS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you already know.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8046720" cy="0"/>
          </a:xfrm>
          <a:prstGeom prst="line">
            <a:avLst/>
          </a:prstGeom>
          <a:noFill/>
          <a:ln w="9525">
            <a:solidFill>
              <a:srgbClr val="B1B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27632"/>
            <a:ext cx="3931920" cy="1097280"/>
          </a:xfrm>
          <a:prstGeom prst="rect">
            <a:avLst/>
          </a:prstGeom>
          <a:solidFill>
            <a:srgbClr val="E8F0FB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Chatbot (LangChain)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answering questions.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chains prompt → model → output.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627632"/>
            <a:ext cx="3931920" cy="1097280"/>
          </a:xfrm>
          <a:prstGeom prst="rect">
            <a:avLst/>
          </a:prstGeom>
          <a:solidFill>
            <a:srgbClr val="E8F0FB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76479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208483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Structured: SQL queries on a database.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Unstructured: semantic search over docs.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017520"/>
            <a:ext cx="3931920" cy="1097280"/>
          </a:xfrm>
          <a:prstGeom prst="rect">
            <a:avLst/>
          </a:prstGeom>
          <a:solidFill>
            <a:srgbClr val="E8F0FB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5468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 Agents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474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decides what to do next.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3017520"/>
            <a:ext cx="3931920" cy="1097280"/>
          </a:xfrm>
          <a:prstGeom prst="rect">
            <a:avLst/>
          </a:prstGeom>
          <a:solidFill>
            <a:srgbClr val="E8F0FB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315468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3474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endpoints apps call each other with.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humans, not for AI.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5445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connects all four. It's the missing standard that makes them talk to AI.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Demo.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8046720" cy="0"/>
          </a:xfrm>
          <a:prstGeom prst="line">
            <a:avLst/>
          </a:prstGeom>
          <a:noFill/>
          <a:ln w="9525">
            <a:solidFill>
              <a:srgbClr val="B1B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64208"/>
            <a:ext cx="54864" cy="658368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8249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knows the endpoint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hard-code GET /tickets/42. The URL was written by a human who read the docs.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523744"/>
            <a:ext cx="54864" cy="658368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420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raw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87121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is a JSON blob. No description. No context. The AI has no idea what to do with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383280"/>
            <a:ext cx="54864" cy="658368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0156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is different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73075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for reads, POST for writes. 404 = not found, 500 = crashed. The AI must be taught each rule.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2793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AI can't read a spec sheet and hard-code URLs at runtime. It needs something different.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MCP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problems. One solution.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8046720" cy="0"/>
          </a:xfrm>
          <a:prstGeom prst="line">
            <a:avLst/>
          </a:prstGeom>
          <a:noFill/>
          <a:ln w="9525">
            <a:solidFill>
              <a:srgbClr val="B1B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27632"/>
            <a:ext cx="8046720" cy="530352"/>
          </a:xfrm>
          <a:prstGeom prst="rect">
            <a:avLst/>
          </a:prstGeom>
          <a:solidFill>
            <a:srgbClr val="F3F2F1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824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Discovery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91109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assume you know what endpoints exist. AI must find them at runtime.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249424"/>
            <a:ext cx="8046720" cy="530352"/>
          </a:xfrm>
          <a:prstGeom prst="rect">
            <a:avLst/>
          </a:prstGeom>
          <a:solidFill>
            <a:srgbClr val="F3F2F1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04288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3288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return raw data. AI needs descriptions and schemas built in.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871216"/>
            <a:ext cx="8046720" cy="530352"/>
          </a:xfrm>
          <a:prstGeom prst="rect">
            <a:avLst/>
          </a:prstGeom>
          <a:solidFill>
            <a:srgbClr val="F3F2F1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2608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Standard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is different. AI needs one consistent protocol.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639312"/>
            <a:ext cx="8046720" cy="676656"/>
          </a:xfrm>
          <a:prstGeom prst="rect">
            <a:avLst/>
          </a:prstGeom>
          <a:solidFill>
            <a:srgbClr val="E8F0FB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75888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a standard protocol for AI to discover and use external tools.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MCP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a standard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for AI to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and use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94360" y="3520440"/>
            <a:ext cx="8046720" cy="0"/>
          </a:xfrm>
          <a:prstGeom prst="line">
            <a:avLst/>
          </a:prstGeom>
          <a:noFill/>
          <a:ln w="12700">
            <a:solidFill>
              <a:srgbClr val="B1B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6393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USB-C — one connector, any device, any manufacturer. It just works.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41879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protocol. Any AI client. Any tool server. They just connect.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CORE CONCEPTS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8046720" cy="0"/>
          </a:xfrm>
          <a:prstGeom prst="line">
            <a:avLst/>
          </a:prstGeom>
          <a:noFill/>
          <a:ln w="9525">
            <a:solidFill>
              <a:srgbClr val="B1B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27632"/>
            <a:ext cx="54864" cy="80467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9019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— discovers &amp; calls tools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Desktop, LangGraph agent, VS Code.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"What tools do you have?" then decides.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2633472"/>
            <a:ext cx="54864" cy="80467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51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9077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tools &amp; 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10896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tools (actions) and resources (data).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inside — it just runs your code.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639312"/>
            <a:ext cx="54864" cy="80467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57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9136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action the AI can take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411480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 + Zod schema + handler.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= AI's instruction manual.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1627632"/>
            <a:ext cx="54864" cy="80467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19019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 AI can read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21031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URI endpoints (tickets://catalog).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GET — no side effects.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2633472"/>
            <a:ext cx="54864" cy="80467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651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9077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communicate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310896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 over stdio (local) or HTTP-SSE.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— any client, any server.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639312"/>
            <a:ext cx="54864" cy="80467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657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listTools()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39136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discovery mechanism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0" y="411480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at startup. Server returns all schemas.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reads descriptions — decides at runtime.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diagram.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8046720" cy="0"/>
          </a:xfrm>
          <a:prstGeom prst="line">
            <a:avLst/>
          </a:prstGeom>
          <a:noFill/>
          <a:ln w="9525">
            <a:solidFill>
              <a:srgbClr val="B1B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64208"/>
            <a:ext cx="8046720" cy="1828800"/>
          </a:xfrm>
          <a:prstGeom prst="rect">
            <a:avLst/>
          </a:prstGeom>
          <a:solidFill>
            <a:srgbClr val="E8F0FB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01368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7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MCPArchitecture.html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interactive diagram now.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node — Chat Interface → Orchestrator → Agents → Protocol → MCP Servers → Data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6576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→ Chat UI → FastAPI Backend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9136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LangGraph Orchestrator (multi-agent)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416966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MCP Protocol (JSON-RPC)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442569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MCP Servers: RAG · Data · Comms · Web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46817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Data: Vector DB · PostgreSQL · Slack · Internet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THE CODE — CLIENT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 — four steps.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8046720" cy="0"/>
          </a:xfrm>
          <a:prstGeom prst="line">
            <a:avLst/>
          </a:prstGeom>
          <a:noFill/>
          <a:ln w="9525">
            <a:solidFill>
              <a:srgbClr val="B1B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64208"/>
            <a:ext cx="8046720" cy="3291840"/>
          </a:xfrm>
          <a:prstGeom prst="rect">
            <a:avLst/>
          </a:prstGeom>
          <a:solidFill>
            <a:srgbClr val="F3F2F1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810512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 — Point the client at the MCP server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" y="2007108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mcp_client = MultiServerMCPClient({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58952" y="2203704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'it-support': {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58952" y="2400300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'npx',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" y="2596896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args: ['tsx', 'server.ts'],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2793492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transport: 'stdio'      # launch server as child process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8952" y="2990088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186684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8952" y="3383280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8952" y="3579876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 — Discover all tools at RUNTIME (the MCP magic)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8952" y="3776472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await mcp_client.get_tools()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8952" y="3973068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Returns: [create_ticket, get_ticket, check_system_status, ...]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58952" y="4169664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Each tool has: name, description, input schema — from the server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58952" y="4366260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8952" y="4562856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3 — Give tools to the LangGraph agent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8952" y="4759452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create_react_agent(llm, tools)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THE CODE — SERVER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— anatomy of one tool.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8046720" cy="0"/>
          </a:xfrm>
          <a:prstGeom prst="line">
            <a:avLst/>
          </a:prstGeom>
          <a:noFill/>
          <a:ln w="9525">
            <a:solidFill>
              <a:srgbClr val="B1B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64208"/>
            <a:ext cx="8046720" cy="3291840"/>
          </a:xfrm>
          <a:prstGeom prst="rect">
            <a:avLst/>
          </a:prstGeom>
          <a:solidFill>
            <a:srgbClr val="F3F2F1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810512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server.tool(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" y="2007108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58952" y="2203704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'create_ticket',      // Part 1 — NAME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58952" y="2400300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//   what the client calls 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58952" y="2596896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2793492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'Create a ticket.     // Part 2 — 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8952" y="2990088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Call this when       //   THE MOST IMPORTANT PART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186684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issue needs          //   The AI reads this to decide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8952" y="3383280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tracking.',          //   WHEN to call this tool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8952" y="3579876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8952" y="3776472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                    // Part 3 — ZOD SCHEMA (input validation)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8952" y="3973068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     z.string().min(5).describe('Short summary'),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58952" y="4169664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priority:   z.enum(['low','medium','high']).default('medium'),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58952" y="4366260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user_email: z.string().email(),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8952" y="4562856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8952" y="4759452"/>
            <a:ext cx="7717536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B0C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 · IT SUPPORT AGENT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University Support Portal.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8046720" cy="0"/>
          </a:xfrm>
          <a:prstGeom prst="line">
            <a:avLst/>
          </a:prstGeom>
          <a:noFill/>
          <a:ln w="9525">
            <a:solidFill>
              <a:srgbClr val="B1B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27632"/>
            <a:ext cx="8046720" cy="475488"/>
          </a:xfrm>
          <a:prstGeom prst="rect">
            <a:avLst/>
          </a:prstGeom>
          <a:solidFill>
            <a:srgbClr val="E8F0FB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0078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7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Open: ITSupportArchitecture.html  ·  Code: backend/mcp_server/server.ts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86000"/>
            <a:ext cx="438912" cy="43891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860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0432" y="2286000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+ FastAPI Backend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2523744"/>
            <a:ext cx="7406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chat in the browser. Responses stream in real time via SSE.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816352"/>
            <a:ext cx="438912" cy="43891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163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2816352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054096"/>
            <a:ext cx="7406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each message through Triage → RAG → (optionally) Ticket → Response agents.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346704"/>
            <a:ext cx="438912" cy="43891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467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70432" y="3346704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584448"/>
            <a:ext cx="7406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 IT knowledge base (Chroma vector store). If confident, answers directly.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877056"/>
            <a:ext cx="438912" cy="43891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8770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70432" y="3877056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Agent + MCP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4114800"/>
            <a:ext cx="7406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RAG can't resolve the issue, the agent calls create_ticket() via MCP. Human confirmed first.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4407408"/>
            <a:ext cx="438912" cy="43891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074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70432" y="4407408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MCP Tools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70432" y="4645152"/>
            <a:ext cx="7406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create_ticket · get_ticket · update_status · check_system · reset_password · search_known_issues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1D7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 · FINANCIAL 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ModelMyWealth.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8046720" cy="0"/>
          </a:xfrm>
          <a:prstGeom prst="line">
            <a:avLst/>
          </a:prstGeom>
          <a:noFill/>
          <a:ln w="9525">
            <a:solidFill>
              <a:srgbClr val="B1B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438912" cy="43891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0432" y="171907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financial assistant connected to real portfolio data via MCP tools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377440"/>
            <a:ext cx="438912" cy="43891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774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0432" y="240487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exposes: get_portfolio, run_scenario, calculate_tax, fetch_market_data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3063240"/>
            <a:ext cx="438912" cy="43891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309067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answers: "What if I invested £10k in index funds for 20 years?"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3749040"/>
            <a:ext cx="438912" cy="438912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490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70432" y="377647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MCP pattern — different domain, identical architecture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4315968"/>
            <a:ext cx="8046720" cy="566928"/>
          </a:xfrm>
          <a:prstGeom prst="rect">
            <a:avLst/>
          </a:prstGeom>
          <a:solidFill>
            <a:srgbClr val="F3F2F1"/>
          </a:solidFill>
          <a:ln w="9525">
            <a:solidFill>
              <a:srgbClr val="B1B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40740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demo →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D70B8"/>
          </a:solidFill>
          <a:ln w="12700">
            <a:solidFill>
              <a:srgbClr val="1D70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B0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594360" y="2651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Engineering with MCP — Oxford Session</dc:title>
  <dc:subject>PptxGenJS Presentation</dc:subject>
  <dc:creator>PptxGenJS</dc:creator>
  <cp:lastModifiedBy>PptxGenJS</cp:lastModifiedBy>
  <cp:revision>1</cp:revision>
  <dcterms:created xsi:type="dcterms:W3CDTF">2026-03-25T03:20:10Z</dcterms:created>
  <dcterms:modified xsi:type="dcterms:W3CDTF">2026-03-25T03:20:10Z</dcterms:modified>
</cp:coreProperties>
</file>